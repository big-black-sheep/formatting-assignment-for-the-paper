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3" r:id="rId6"/>
    <p:sldId id="264" r:id="rId7"/>
    <p:sldId id="259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76" autoAdjust="0"/>
    <p:restoredTop sz="94003" autoAdjust="0"/>
  </p:normalViewPr>
  <p:slideViewPr>
    <p:cSldViewPr snapToGrid="0" showGuides="1">
      <p:cViewPr varScale="1">
        <p:scale>
          <a:sx n="93" d="100"/>
          <a:sy n="93" d="100"/>
        </p:scale>
        <p:origin x="100" y="30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zhong Yan" userId="d7ea630790a38af9" providerId="LiveId" clId="{1591F6B7-D5C7-4174-A4F0-05BE26290D93}"/>
    <pc:docChg chg="modSld">
      <pc:chgData name="Yinzhong Yan" userId="d7ea630790a38af9" providerId="LiveId" clId="{1591F6B7-D5C7-4174-A4F0-05BE26290D93}" dt="2025-06-24T10:22:36.663" v="0" actId="400"/>
      <pc:docMkLst>
        <pc:docMk/>
      </pc:docMkLst>
      <pc:sldChg chg="modSp mod">
        <pc:chgData name="Yinzhong Yan" userId="d7ea630790a38af9" providerId="LiveId" clId="{1591F6B7-D5C7-4174-A4F0-05BE26290D93}" dt="2025-06-24T10:22:36.663" v="0" actId="400"/>
        <pc:sldMkLst>
          <pc:docMk/>
          <pc:sldMk cId="0" sldId="265"/>
        </pc:sldMkLst>
        <pc:spChg chg="mod">
          <ac:chgData name="Yinzhong Yan" userId="d7ea630790a38af9" providerId="LiveId" clId="{1591F6B7-D5C7-4174-A4F0-05BE26290D93}" dt="2025-06-24T10:22:36.663" v="0" actId="400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5D935-8F07-4C7F-BAC9-66FEBF43C753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A0F83-B78A-40F2-84EC-912524DAA6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A0F83-B78A-40F2-84EC-912524DAA69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A0F83-B78A-40F2-84EC-912524DAA69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537441-5826-4781-BC1E-72B805A402E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4F95BB-8B50-4F75-87B6-1642F1F1F18C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xstudio.org/" TargetMode="External"/><Relationship Id="rId2" Type="http://schemas.openxmlformats.org/officeDocument/2006/relationships/hyperlink" Target="https://tug.org/texlive/window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verleaf.com/learn/latex/Learn_LaTeX_in_30_minutes" TargetMode="External"/><Relationship Id="rId5" Type="http://schemas.openxmlformats.org/officeDocument/2006/relationships/hyperlink" Target="https://www.mendeley.com/download-reference-manager/windows" TargetMode="External"/><Relationship Id="rId4" Type="http://schemas.openxmlformats.org/officeDocument/2006/relationships/hyperlink" Target="https://www.elsevier.com/researcher/author/policies-and-guidelines/latex-instruction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utomeris.io/wpd/" TargetMode="External"/><Relationship Id="rId2" Type="http://schemas.openxmlformats.org/officeDocument/2006/relationships/hyperlink" Target="https://inkscape.org/zh-hans/doc/tutorials/basic/tutorial-basic.html?switchlang=zh-ha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reepik.com/" TargetMode="External"/><Relationship Id="rId4" Type="http://schemas.openxmlformats.org/officeDocument/2006/relationships/hyperlink" Target="https://uk.mathworks.com/help/matlab/creating_plots/types-of-matlab-plots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zh/get-started/start-your-journey/hello-world" TargetMode="External"/><Relationship Id="rId2" Type="http://schemas.openxmlformats.org/officeDocument/2006/relationships/hyperlink" Target="https://git-scm.com/book/zh/v2/%E8%B5%B7%E6%AD%A5-%E5%85%B3%E4%BA%8E%E7%89%88%E6%9C%AC%E6%8E%A7%E5%88%B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ithub.com/zh/account-and-profile/setting-up-and-managing-your-personal-account-on-github/managing-access-to-your-personal-repositories/inviting-collaborators-to-a-personal-repository" TargetMode="External"/><Relationship Id="rId4" Type="http://schemas.openxmlformats.org/officeDocument/2006/relationships/hyperlink" Target="https://docs.github.com/en/account-and-profile/setting-up-and-managing-your-personal-account-on-github/managing-access-to-your-personal-repositories/inviting-collaborators-to-a-personal-repository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ns.cnki.ne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学术写作基础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学术写作与排版绘图</a:t>
            </a:r>
            <a:endParaRPr lang="en-US" altLang="zh-CN" dirty="0"/>
          </a:p>
          <a:p>
            <a:r>
              <a:rPr lang="zh-CN" altLang="en-US" dirty="0"/>
              <a:t>民航学院</a:t>
            </a:r>
            <a:endParaRPr lang="en-US" altLang="zh-CN" dirty="0"/>
          </a:p>
          <a:p>
            <a:r>
              <a:rPr lang="zh-CN" altLang="en-US" dirty="0"/>
              <a:t>严寅中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‘</a:t>
            </a:r>
            <a:r>
              <a:rPr lang="en-US" dirty="0"/>
              <a:t>Manuscript language: grammar</a:t>
            </a:r>
            <a:r>
              <a:rPr lang="zh-CN" altLang="en-US" dirty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根据</a:t>
            </a:r>
            <a:r>
              <a:rPr lang="en-US" altLang="zh-CN" dirty="0"/>
              <a:t>Academic </a:t>
            </a:r>
            <a:r>
              <a:rPr lang="en-US" altLang="zh-CN" dirty="0" err="1"/>
              <a:t>Phrasebank</a:t>
            </a:r>
            <a:r>
              <a:rPr lang="zh-CN" altLang="en-US" dirty="0"/>
              <a:t>的指导进行初步写作；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查字典完成填空；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利用语法校对软件修正语法错误，例如</a:t>
            </a:r>
            <a:r>
              <a:rPr lang="en-US" altLang="zh-CN" dirty="0"/>
              <a:t>Grammarly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Google Translate</a:t>
            </a:r>
            <a:r>
              <a:rPr lang="zh-CN" altLang="en-US" dirty="0"/>
              <a:t>网页上将写作好的英文句子翻译成中文，看看是否与你想表达的意思一致；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利用</a:t>
            </a:r>
            <a:r>
              <a:rPr lang="en-US" altLang="zh-CN" dirty="0"/>
              <a:t>ChatGPT</a:t>
            </a:r>
            <a:r>
              <a:rPr lang="zh-CN" altLang="en-US" dirty="0"/>
              <a:t>进行</a:t>
            </a:r>
            <a:r>
              <a:rPr lang="en-US" altLang="zh-CN" dirty="0"/>
              <a:t>Proofreading</a:t>
            </a:r>
            <a:r>
              <a:rPr lang="zh-CN" altLang="en-US" dirty="0"/>
              <a:t>（推荐</a:t>
            </a:r>
            <a:r>
              <a:rPr lang="en-US" altLang="zh-CN" dirty="0"/>
              <a:t>POE</a:t>
            </a:r>
            <a:r>
              <a:rPr lang="zh-CN" altLang="en-US" dirty="0"/>
              <a:t>或者</a:t>
            </a:r>
            <a:r>
              <a:rPr lang="en-US" altLang="zh-CN" dirty="0"/>
              <a:t>MS Co-pilot</a:t>
            </a:r>
            <a:r>
              <a:rPr lang="zh-CN" altLang="en-US" dirty="0"/>
              <a:t>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‘</a:t>
            </a:r>
            <a:r>
              <a:rPr lang="en-US" dirty="0"/>
              <a:t>Double-check unfamiliar words or phrases</a:t>
            </a:r>
            <a:r>
              <a:rPr lang="zh-CN" altLang="en-US" dirty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如何确定不熟悉概念的英文拼写？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对于常规词汇，可用词典软件进行搜索，从中英文例句中通过对照查找的方式，确定英文单词的选取，推荐使用欧路词典；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通过知网搜索相关中文关键词，找到相近方向的中文论文，通过其英文</a:t>
            </a:r>
            <a:r>
              <a:rPr lang="en-US" altLang="zh-CN" dirty="0"/>
              <a:t>Abstract</a:t>
            </a:r>
            <a:r>
              <a:rPr lang="zh-CN" altLang="en-US" dirty="0"/>
              <a:t>部分的词组来确认。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避免发生“</a:t>
            </a:r>
            <a:r>
              <a:rPr lang="en-US" altLang="zh-CN" dirty="0"/>
              <a:t>Time is very nervous</a:t>
            </a:r>
            <a:r>
              <a:rPr lang="zh-CN" altLang="en-US" dirty="0"/>
              <a:t>” 、“</a:t>
            </a:r>
            <a:r>
              <a:rPr lang="en-US" altLang="zh-CN" dirty="0"/>
              <a:t>Pumping elephant</a:t>
            </a:r>
            <a:r>
              <a:rPr lang="zh-CN" altLang="en-US" dirty="0"/>
              <a:t>”这种低级错误。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Latex</a:t>
            </a:r>
            <a:r>
              <a:rPr lang="zh-CN" altLang="en-US" dirty="0"/>
              <a:t>安装与环境配置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Texlive</a:t>
            </a:r>
            <a:r>
              <a:rPr lang="zh-CN" altLang="en-US" dirty="0"/>
              <a:t>，</a:t>
            </a:r>
            <a:r>
              <a:rPr lang="en-US" altLang="zh-CN" dirty="0">
                <a:hlinkClick r:id="rId2"/>
              </a:rPr>
              <a:t>https://tug.org/texlive/windows.html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安装</a:t>
            </a:r>
            <a:r>
              <a:rPr lang="en-US" altLang="zh-CN" dirty="0" err="1"/>
              <a:t>TexStudio</a:t>
            </a:r>
            <a:r>
              <a:rPr lang="en-US" altLang="zh-CN" dirty="0"/>
              <a:t>, </a:t>
            </a:r>
            <a:r>
              <a:rPr lang="en-US" altLang="zh-CN" dirty="0">
                <a:hlinkClick r:id="rId3"/>
              </a:rPr>
              <a:t>https://www.texstudio.org/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从出版社网站上下载官方论文</a:t>
            </a:r>
            <a:r>
              <a:rPr lang="en-US" altLang="zh-CN" dirty="0"/>
              <a:t>Latex</a:t>
            </a:r>
            <a:r>
              <a:rPr lang="zh-CN" altLang="en-US" dirty="0"/>
              <a:t>模板，</a:t>
            </a:r>
            <a:r>
              <a:rPr lang="en-US" altLang="zh-CN" dirty="0">
                <a:hlinkClick r:id="rId4"/>
              </a:rPr>
              <a:t>https://www.elsevier.com/researcher/author/policies-and-guidelines/latex-instructions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下载</a:t>
            </a:r>
            <a:r>
              <a:rPr lang="en-US" altLang="zh-CN" dirty="0"/>
              <a:t>Mendeley</a:t>
            </a:r>
            <a:r>
              <a:rPr lang="zh-CN" altLang="en-US" dirty="0"/>
              <a:t>文献管理软件，</a:t>
            </a:r>
            <a:r>
              <a:rPr lang="en-US" altLang="zh-CN" dirty="0">
                <a:hlinkClick r:id="rId5"/>
              </a:rPr>
              <a:t>https://www.mendeley.com/download-reference-manager/windows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从</a:t>
            </a:r>
            <a:r>
              <a:rPr lang="en-US" altLang="zh-CN" dirty="0"/>
              <a:t>Overleaf</a:t>
            </a:r>
            <a:r>
              <a:rPr lang="zh-CN" altLang="en-US" dirty="0"/>
              <a:t>网站上学习</a:t>
            </a:r>
            <a:r>
              <a:rPr lang="en-US" altLang="zh-CN" dirty="0"/>
              <a:t>Latex</a:t>
            </a:r>
            <a:r>
              <a:rPr lang="zh-CN" altLang="en-US" dirty="0"/>
              <a:t>语法，</a:t>
            </a:r>
            <a:r>
              <a:rPr lang="en-US" altLang="zh-CN" dirty="0">
                <a:hlinkClick r:id="rId6"/>
              </a:rPr>
              <a:t>https://www.overleaf.com/learn/latex/Learn_LaTeX_in_30_minutes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开始上手实战，</a:t>
            </a:r>
            <a:r>
              <a:rPr lang="en-US" altLang="zh-CN" dirty="0"/>
              <a:t>so easy!!!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Inkscape</a:t>
            </a:r>
            <a:r>
              <a:rPr lang="zh-CN" altLang="en-US" dirty="0"/>
              <a:t>矢量图绘制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Inkscape</a:t>
            </a:r>
            <a:r>
              <a:rPr lang="zh-CN" altLang="en-US" dirty="0"/>
              <a:t>矢量图绘制软件，</a:t>
            </a:r>
            <a:r>
              <a:rPr lang="en-US" altLang="zh-CN" dirty="0">
                <a:hlinkClick r:id="rId2"/>
              </a:rPr>
              <a:t>https://inkscape.org/zh-hans/doc/tutorials/basic/tutorial-basic.html?switchlang=zh-hans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WebPlotDigitizer</a:t>
            </a:r>
            <a:r>
              <a:rPr lang="zh-CN" altLang="en-US" dirty="0"/>
              <a:t>数据提取</a:t>
            </a:r>
            <a:r>
              <a:rPr lang="en-US" altLang="zh-CN" dirty="0"/>
              <a:t>app</a:t>
            </a:r>
            <a:r>
              <a:rPr lang="zh-CN" altLang="en-US" dirty="0"/>
              <a:t>，</a:t>
            </a:r>
            <a:r>
              <a:rPr lang="en-US" altLang="zh-CN" dirty="0">
                <a:hlinkClick r:id="rId3"/>
              </a:rPr>
              <a:t>https://apps.automeris.io/wpd/</a:t>
            </a:r>
            <a:r>
              <a:rPr lang="en-US" altLang="zh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Matlab</a:t>
            </a:r>
            <a:r>
              <a:rPr lang="zh-CN" altLang="en-US" dirty="0"/>
              <a:t>或</a:t>
            </a:r>
            <a:r>
              <a:rPr lang="en-US" altLang="zh-CN" dirty="0"/>
              <a:t>Python</a:t>
            </a:r>
            <a:r>
              <a:rPr lang="zh-CN" altLang="en-US" dirty="0"/>
              <a:t>数据处理软件；</a:t>
            </a:r>
            <a:r>
              <a:rPr lang="en-US" altLang="zh-CN" dirty="0">
                <a:hlinkClick r:id="rId4"/>
              </a:rPr>
              <a:t>https://uk.mathworks.com/help/matlab/creating_plots/types-of-matlab-plots.html</a:t>
            </a:r>
            <a:r>
              <a:rPr lang="en-US" altLang="zh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矢量图素材获取网站，</a:t>
            </a:r>
            <a:r>
              <a:rPr lang="en-US" altLang="zh-CN" dirty="0">
                <a:hlinkClick r:id="rId5"/>
              </a:rPr>
              <a:t>https://www.freepik.com/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，</a:t>
            </a:r>
            <a:r>
              <a:rPr lang="en-US" altLang="zh-CN" dirty="0">
                <a:hlinkClick r:id="rId2"/>
              </a:rPr>
              <a:t>https://git-scm.com/book/zh/v2/%E8%B5%B7%E6%AD%A5-%E5%85%B3%E4%BA%8E%E7%89%88%E6%9C%AC%E6%8E%A7%E5%88%B6</a:t>
            </a:r>
            <a:r>
              <a:rPr lang="en-US" altLang="zh-CN" dirty="0"/>
              <a:t> </a:t>
            </a:r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Hello World, </a:t>
            </a:r>
            <a:r>
              <a:rPr lang="en-US" dirty="0">
                <a:hlinkClick r:id="rId3"/>
              </a:rPr>
              <a:t>https://docs.github.com/zh/get-started/start-your-journey/hello-world</a:t>
            </a:r>
            <a:r>
              <a:rPr lang="en-US" dirty="0"/>
              <a:t> </a:t>
            </a:r>
            <a:endParaRPr lang="en-US" dirty="0">
              <a:hlinkClick r:id="rId4"/>
            </a:endParaRPr>
          </a:p>
          <a:p>
            <a:r>
              <a:rPr lang="en-US" dirty="0"/>
              <a:t>Inviting collaborators to a personal repository</a:t>
            </a:r>
            <a:r>
              <a:rPr lang="zh-CN" altLang="en-US" dirty="0"/>
              <a:t>，</a:t>
            </a:r>
            <a:r>
              <a:rPr lang="en-US" altLang="zh-CN" dirty="0">
                <a:hlinkClick r:id="rId5"/>
              </a:rPr>
              <a:t>https://docs.github.com/zh/account-and-profile/setting-up-and-managing-your-personal-account-on-github/managing-access-to-your-personal-repositories/inviting-collaborators-to-a-personal-repository</a:t>
            </a:r>
            <a:r>
              <a:rPr lang="en-US" altLang="zh-CN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Paper I - HD Remaster (English Ver.)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从知网（</a:t>
            </a:r>
            <a:r>
              <a:rPr lang="en-US" altLang="zh-CN" dirty="0">
                <a:hlinkClick r:id="rId2"/>
              </a:rPr>
              <a:t>https://kns.cnki.net/</a:t>
            </a:r>
            <a:r>
              <a:rPr lang="zh-CN" altLang="en-US" dirty="0"/>
              <a:t>）中选取领域内相关的中文论文一篇，从</a:t>
            </a:r>
            <a:r>
              <a:rPr lang="en-US" altLang="zh-CN" dirty="0"/>
              <a:t>Web of Science</a:t>
            </a:r>
            <a:r>
              <a:rPr lang="zh-CN" altLang="en-US" dirty="0"/>
              <a:t>中找到一篇英文文章，可以是导师发过的文章；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文章选取建议：含有流程框架图、数据图（不能太复杂）、表格以及数学公式；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将中文论文翻译成英文论文，参考上两章；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Paper II - HD Remaster (English Ver.)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学习</a:t>
            </a:r>
            <a:r>
              <a:rPr lang="en-US" altLang="zh-CN" dirty="0"/>
              <a:t>Overleaf</a:t>
            </a:r>
            <a:r>
              <a:rPr lang="zh-CN" altLang="en-US" dirty="0"/>
              <a:t>网站上的</a:t>
            </a:r>
            <a:r>
              <a:rPr lang="en-US" altLang="zh-CN" dirty="0"/>
              <a:t>tutorial</a:t>
            </a:r>
            <a:r>
              <a:rPr lang="zh-CN" altLang="en-US" dirty="0"/>
              <a:t>，并在</a:t>
            </a:r>
            <a:r>
              <a:rPr lang="en-US" altLang="zh-CN" dirty="0" err="1"/>
              <a:t>TexStudio</a:t>
            </a:r>
            <a:r>
              <a:rPr lang="zh-CN" altLang="en-US" dirty="0"/>
              <a:t>上复现代码；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学习使用</a:t>
            </a:r>
            <a:r>
              <a:rPr lang="en-US" altLang="zh-CN" dirty="0"/>
              <a:t>Elsevier</a:t>
            </a:r>
            <a:r>
              <a:rPr lang="zh-CN" altLang="en-US" dirty="0"/>
              <a:t>的官方</a:t>
            </a:r>
            <a:r>
              <a:rPr lang="en-US" altLang="zh-CN" dirty="0"/>
              <a:t>latex</a:t>
            </a:r>
            <a:r>
              <a:rPr lang="zh-CN" altLang="en-US" dirty="0"/>
              <a:t>模板（</a:t>
            </a:r>
            <a:r>
              <a:rPr lang="en-US" altLang="zh-CN" dirty="0" err="1"/>
              <a:t>elsarticle</a:t>
            </a:r>
            <a:r>
              <a:rPr lang="zh-CN" altLang="en-US" dirty="0"/>
              <a:t>），并将标题、作者、通讯作者、通讯邮箱、机构地址、关键词以及摘要等基础内容加入</a:t>
            </a:r>
            <a:r>
              <a:rPr lang="en-US" altLang="zh-CN" dirty="0" err="1"/>
              <a:t>elsarticle</a:t>
            </a:r>
            <a:r>
              <a:rPr lang="zh-CN" altLang="en-US" dirty="0"/>
              <a:t>模板；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复制</a:t>
            </a:r>
            <a:r>
              <a:rPr lang="en-US" altLang="zh-CN" dirty="0"/>
              <a:t>5</a:t>
            </a:r>
            <a:r>
              <a:rPr lang="zh-CN" altLang="en-US" dirty="0"/>
              <a:t>段文本并在</a:t>
            </a:r>
            <a:r>
              <a:rPr lang="en-US" altLang="zh-CN" dirty="0"/>
              <a:t>latex</a:t>
            </a:r>
            <a:r>
              <a:rPr lang="zh-CN" altLang="en-US" dirty="0"/>
              <a:t>中形成段落；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插入一张</a:t>
            </a:r>
            <a:r>
              <a:rPr lang="en-US" altLang="zh-CN" dirty="0"/>
              <a:t>JPG</a:t>
            </a:r>
            <a:r>
              <a:rPr lang="zh-CN" altLang="en-US" dirty="0"/>
              <a:t>格式的</a:t>
            </a:r>
            <a:r>
              <a:rPr lang="en-US" altLang="zh-CN" dirty="0"/>
              <a:t>bitmap</a:t>
            </a:r>
            <a:r>
              <a:rPr lang="zh-CN" altLang="en-US" dirty="0"/>
              <a:t>图片，标注标题和引用；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插入</a:t>
            </a:r>
            <a:r>
              <a:rPr lang="en-US" altLang="zh-CN" dirty="0"/>
              <a:t>3</a:t>
            </a:r>
            <a:r>
              <a:rPr lang="zh-CN" altLang="en-US" dirty="0"/>
              <a:t>个高级公式（上下标、大小括号、矩阵、分式、积分、累加和以及希腊字幕）；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插入一张表格，标注标题和引用；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Mendeley</a:t>
            </a:r>
            <a:r>
              <a:rPr lang="zh-CN" altLang="en-US" dirty="0"/>
              <a:t>中加入</a:t>
            </a:r>
            <a:r>
              <a:rPr lang="en-US" altLang="zh-CN" dirty="0"/>
              <a:t>5</a:t>
            </a:r>
            <a:r>
              <a:rPr lang="zh-CN" altLang="en-US" dirty="0"/>
              <a:t>篇文章，并在</a:t>
            </a:r>
            <a:r>
              <a:rPr lang="en-US" altLang="zh-CN" dirty="0"/>
              <a:t>latex</a:t>
            </a:r>
            <a:r>
              <a:rPr lang="zh-CN" altLang="en-US" dirty="0"/>
              <a:t>中加入</a:t>
            </a:r>
            <a:r>
              <a:rPr lang="en-US" altLang="zh-CN" dirty="0"/>
              <a:t>5</a:t>
            </a:r>
            <a:r>
              <a:rPr lang="zh-CN" altLang="en-US" dirty="0"/>
              <a:t>篇参考文献。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Paper II - HD Remaster (English Ver.)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 err="1"/>
              <a:t>WebPlotDigitizer</a:t>
            </a:r>
            <a:r>
              <a:rPr lang="zh-CN" altLang="en-US" dirty="0"/>
              <a:t>提取一篇论文中位图的数据；通过</a:t>
            </a:r>
            <a:r>
              <a:rPr lang="en-US" altLang="zh-CN" dirty="0"/>
              <a:t>Matlab</a:t>
            </a:r>
            <a:r>
              <a:rPr lang="zh-CN" altLang="en-US" dirty="0"/>
              <a:t>或</a:t>
            </a:r>
            <a:r>
              <a:rPr lang="en-US" altLang="zh-CN" dirty="0"/>
              <a:t>Python</a:t>
            </a:r>
            <a:r>
              <a:rPr lang="zh-CN" altLang="en-US" dirty="0"/>
              <a:t>绘制数据，并导出为</a:t>
            </a:r>
            <a:r>
              <a:rPr lang="en-US" altLang="zh-CN" dirty="0"/>
              <a:t>.eps</a:t>
            </a:r>
            <a:r>
              <a:rPr lang="zh-CN" altLang="en-US" dirty="0"/>
              <a:t>格式的矢量图；在</a:t>
            </a:r>
            <a:r>
              <a:rPr lang="en-US" altLang="zh-CN" dirty="0"/>
              <a:t>Inkscape</a:t>
            </a:r>
            <a:r>
              <a:rPr lang="zh-CN" altLang="en-US" dirty="0"/>
              <a:t>对图像进行编辑，最终导出为</a:t>
            </a:r>
            <a:r>
              <a:rPr lang="en-US" altLang="zh-CN" dirty="0"/>
              <a:t>.pdf</a:t>
            </a:r>
            <a:r>
              <a:rPr lang="zh-CN" altLang="en-US" dirty="0"/>
              <a:t>格式图片文件；</a:t>
            </a:r>
            <a:endParaRPr lang="en-US" altLang="zh-CN" dirty="0"/>
          </a:p>
          <a:p>
            <a:r>
              <a:rPr lang="zh-CN" altLang="en-US" dirty="0"/>
              <a:t>将一篇</a:t>
            </a:r>
            <a:r>
              <a:rPr lang="en-US" altLang="zh-CN" dirty="0"/>
              <a:t>pdf</a:t>
            </a:r>
            <a:r>
              <a:rPr lang="zh-CN" altLang="en-US" dirty="0"/>
              <a:t>格式的论文导入</a:t>
            </a:r>
            <a:r>
              <a:rPr lang="en-US" altLang="zh-CN" dirty="0"/>
              <a:t>Inkscape</a:t>
            </a:r>
            <a:r>
              <a:rPr lang="zh-CN" altLang="en-US" dirty="0"/>
              <a:t>，并提取其矢量数据</a:t>
            </a:r>
            <a:r>
              <a:rPr lang="en-US" altLang="zh-CN" dirty="0"/>
              <a:t>/</a:t>
            </a:r>
            <a:r>
              <a:rPr lang="zh-CN" altLang="en-US" dirty="0"/>
              <a:t>流程图；</a:t>
            </a:r>
            <a:endParaRPr lang="en-US" altLang="zh-CN" dirty="0"/>
          </a:p>
          <a:p>
            <a:r>
              <a:rPr lang="zh-CN" altLang="en-US" dirty="0"/>
              <a:t>对论文中一个流程图进行</a:t>
            </a:r>
            <a:r>
              <a:rPr lang="en-US" altLang="zh-CN" dirty="0"/>
              <a:t>Tracing bitmap</a:t>
            </a:r>
            <a:r>
              <a:rPr lang="zh-CN" altLang="en-US" dirty="0"/>
              <a:t>处理，并导出</a:t>
            </a:r>
            <a:r>
              <a:rPr lang="en-US" altLang="zh-CN" dirty="0"/>
              <a:t>.pdf</a:t>
            </a:r>
            <a:r>
              <a:rPr lang="zh-CN" altLang="en-US" dirty="0"/>
              <a:t>矢量图文件；</a:t>
            </a:r>
            <a:endParaRPr lang="en-US" altLang="zh-CN" dirty="0"/>
          </a:p>
          <a:p>
            <a:r>
              <a:rPr lang="zh-CN" altLang="en-US" dirty="0"/>
              <a:t>根据自己的理解绘制</a:t>
            </a:r>
            <a:r>
              <a:rPr lang="en-US" altLang="zh-CN" dirty="0"/>
              <a:t>Graphical Abstract</a:t>
            </a:r>
            <a:r>
              <a:rPr lang="zh-CN" altLang="en-US" dirty="0"/>
              <a:t>，要求运用到</a:t>
            </a:r>
            <a:r>
              <a:rPr lang="en-US" altLang="zh-CN" dirty="0"/>
              <a:t>Interpolate</a:t>
            </a:r>
            <a:r>
              <a:rPr lang="zh-CN" altLang="en-US" dirty="0"/>
              <a:t>工具；</a:t>
            </a:r>
            <a:endParaRPr lang="en-US" altLang="zh-CN" dirty="0"/>
          </a:p>
          <a:p>
            <a:r>
              <a:rPr lang="zh-CN" altLang="en-US" dirty="0"/>
              <a:t>将一张超高清位图转为</a:t>
            </a:r>
            <a:r>
              <a:rPr lang="en-US" altLang="zh-CN" dirty="0"/>
              <a:t>720p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将上述三张矢量图插入到</a:t>
            </a:r>
            <a:r>
              <a:rPr lang="en-US" altLang="zh-CN" dirty="0"/>
              <a:t>latex</a:t>
            </a:r>
            <a:r>
              <a:rPr lang="zh-CN" altLang="en-US" dirty="0"/>
              <a:t>文本中去。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Paper III - HD Remaster (English Ver.)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完成</a:t>
            </a:r>
            <a:r>
              <a:rPr lang="en-US" altLang="zh-CN" dirty="0"/>
              <a:t>Latex</a:t>
            </a:r>
            <a:r>
              <a:rPr lang="zh-CN" altLang="en-US" dirty="0"/>
              <a:t>文稿，英文，约</a:t>
            </a:r>
            <a:r>
              <a:rPr lang="en-US" altLang="zh-CN" dirty="0"/>
              <a:t>3</a:t>
            </a:r>
            <a:r>
              <a:rPr lang="zh-CN" altLang="en-US" dirty="0"/>
              <a:t>页，包含文章应有的基本结构段落，包含公式与表格，示意图、数据图，包含</a:t>
            </a:r>
            <a:r>
              <a:rPr lang="en-US" altLang="zh-CN" dirty="0"/>
              <a:t>Graphical Abstract</a:t>
            </a:r>
            <a:r>
              <a:rPr lang="zh-CN" altLang="en-US" dirty="0"/>
              <a:t>，文本一段一行；</a:t>
            </a:r>
            <a:endParaRPr lang="en-US" altLang="zh-CN" dirty="0"/>
          </a:p>
          <a:p>
            <a:r>
              <a:rPr lang="zh-CN" altLang="en-US" strike="sngStrike" dirty="0"/>
              <a:t>大约五人一组，创建一个</a:t>
            </a:r>
            <a:r>
              <a:rPr lang="en-US" altLang="zh-CN" strike="sngStrike" dirty="0"/>
              <a:t>repository</a:t>
            </a:r>
            <a:r>
              <a:rPr lang="zh-CN" altLang="en-US" strike="sngStrike" dirty="0"/>
              <a:t>，并在</a:t>
            </a:r>
            <a:r>
              <a:rPr lang="en-US" altLang="zh-CN" strike="sngStrike" dirty="0"/>
              <a:t>master</a:t>
            </a:r>
            <a:r>
              <a:rPr lang="zh-CN" altLang="en-US" strike="sngStrike" dirty="0"/>
              <a:t>分支之外再建一个分支，尝试双方合作进行论文协同写作，并最终</a:t>
            </a:r>
            <a:r>
              <a:rPr lang="en-US" altLang="zh-CN" strike="sngStrike" dirty="0"/>
              <a:t>merge</a:t>
            </a:r>
            <a:r>
              <a:rPr lang="zh-CN" altLang="en-US" strike="sngStrike" dirty="0"/>
              <a:t>更改。</a:t>
            </a:r>
            <a:endParaRPr lang="en-US" strike="sngStrike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宽屏</PresentationFormat>
  <Paragraphs>55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Celestial</vt:lpstr>
      <vt:lpstr>1. 学术写作基础</vt:lpstr>
      <vt:lpstr>‘Manuscript language: grammar’</vt:lpstr>
      <vt:lpstr>‘Double-check unfamiliar words or phrases’</vt:lpstr>
      <vt:lpstr>Latex安装与环境配置</vt:lpstr>
      <vt:lpstr>Inkscape矢量图绘制</vt:lpstr>
      <vt:lpstr>Github</vt:lpstr>
      <vt:lpstr>Paper I - HD Remaster (English Ver.)</vt:lpstr>
      <vt:lpstr>Paper II - HD Remaster (English Ver.)</vt:lpstr>
      <vt:lpstr>Paper II - HD Remaster (English Ver.)</vt:lpstr>
      <vt:lpstr>Paper III - HD Remaster (English Ver.)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学术写作基础</dc:title>
  <dc:creator>Yinzhong Yan</dc:creator>
  <cp:lastModifiedBy>Yinzhong Yan</cp:lastModifiedBy>
  <cp:revision>94</cp:revision>
  <dcterms:created xsi:type="dcterms:W3CDTF">2024-02-21T03:16:00Z</dcterms:created>
  <dcterms:modified xsi:type="dcterms:W3CDTF">2025-06-24T10:22:38Z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8233EACD969649D894DD13A4EEA575F2_12</vt:lpwstr>
  </property>
  <property fmtid="{D5CDD505-2E9C-101B-9397-08002B2CF9AE}" pid="3" name="KSOProductBuildVer">
    <vt:lpwstr>2052-12.1.0.21171</vt:lpwstr>
  </property>
</Properties>
</file>